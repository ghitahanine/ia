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09728" cy="49789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11480"/>
            <a:ext cx="2377440" cy="685800"/>
          </a:xfrm>
          <a:prstGeom prst="rect">
            <a:avLst/>
          </a:prstGeom>
          <a:solidFill>
            <a:srgbClr val="243554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ENCG SETTAT  |  PSCM S8  |  2025-2026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6A2E"/>
                </a:solidFill>
              </a:rPr>
              <a:t>PROJET N°32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Prédiction du Taux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 Défaut Produit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3383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Contrôle Qualité, OEE &amp; Lean Manufacturing — Approche Data Science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50292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23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Auteurs 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Ghita HANINE &amp; Hajar SAADOUNI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Encadrant : </a:t>
            </a:r>
            <a:pPr indent="0" marL="0">
              <a:buNone/>
            </a:pPr>
            <a:r>
              <a:rPr lang="en-US" sz="1000" b="1" dirty="0">
                <a:solidFill>
                  <a:srgbClr val="E86A2E"/>
                </a:solidFill>
              </a:rPr>
              <a:t>Pr. A. LARHLIMI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2286000" cy="3291840"/>
          </a:xfrm>
          <a:prstGeom prst="rect">
            <a:avLst/>
          </a:prstGeom>
          <a:solidFill>
            <a:srgbClr val="243554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AUC-ROC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6A2E"/>
                </a:solidFill>
              </a:rPr>
              <a:t>0.978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6858000" y="2514600"/>
            <a:ext cx="1737360" cy="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F1-Score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92.8%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6858000" y="3639312"/>
            <a:ext cx="1737360" cy="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A2E"/>
                </a:solidFill>
              </a:rPr>
              <a:t>XGBoost  ★  Best model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PLAN DE LA PRÉSENTATION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82296" cy="11887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Contexte &amp; Problématique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44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Industrie marocaine, OEE, enjeux qualité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777240"/>
            <a:ext cx="82296" cy="11887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868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Données &amp; Méthodologie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344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Dataset 5 247 obs., CRISP-DM, SMOTE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94560"/>
            <a:ext cx="82296" cy="11887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Exploration des Données (EDA)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761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Distribution OEE, 6 grandes pertes, corrélations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94560"/>
            <a:ext cx="82296" cy="11887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Modèles Machine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32120" y="2761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5 algorithmes comparés, GridSearchCV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11880"/>
            <a:ext cx="82296" cy="11887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012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Résultats &amp; Interprétabilité SHAP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XGBoost AUC 0.978, top 5 features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11880"/>
            <a:ext cx="82296" cy="11887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FA3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Recommandations Lean &amp; ROI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TPM, SMED, 5S — gain 2 797 200 MAD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01  |  CONTEXTE &amp; PROBLÉMATIQUE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754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73152" cy="12801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58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🏭  Plan d'Accélération Industrielle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Depuis 2014, le Maroc ambitionne de positionner son industrie automobile (Tanger-Kénitra) parmi les références régionales.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754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73152" cy="12801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📉  Enjeu qualité critique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 point de rebut = 2 à 3 % du coût de production. L'OEE marocain oscille entre 55 % et 72 % vs standard mondial de 85 %.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4754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520440"/>
            <a:ext cx="73152" cy="12801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935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🔗  AMICA &amp; IMMW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Les équipementiers de rang 1 et 2 conditionnent directement la compétitivité de la chaîne d'approvisionnement globale.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685800"/>
            <a:ext cx="3520440" cy="274320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777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6A2E"/>
                </a:solidFill>
              </a:rPr>
              <a:t>PROBLÉMATIQUE CENTRALE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12344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Comment prédire le taux de défaut produit à partir des indicateurs OEE et des paramètres opérationnels, afin de réduire les 6 grandes pertes et d'orienter les démarches Lean de manière data-driven 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49240" y="3566160"/>
            <a:ext cx="352044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3657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OEE = Disponibilité × Performance × Qualité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42062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Cible mondiale : </a:t>
            </a:r>
            <a:pPr algn="ctr" indent="0" marL="0">
              <a:buNone/>
            </a:pPr>
            <a:r>
              <a:rPr lang="en-US" sz="1200" b="1" dirty="0">
                <a:solidFill>
                  <a:srgbClr val="E86A2E"/>
                </a:solidFill>
              </a:rPr>
              <a:t>85 %</a:t>
            </a:r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   Maroc :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55–72 %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|  DONNÉES &amp; MÉTHODOLOGIE CRISP-DM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A2E"/>
                </a:solidFill>
              </a:rPr>
              <a:t>5 247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Observations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64008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658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A2E"/>
                </a:solidFill>
              </a:rPr>
              <a:t>16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Variables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64008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658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A2E"/>
                </a:solidFill>
              </a:rPr>
              <a:t>62.3 %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Conformes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64008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658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A2E"/>
                </a:solidFill>
              </a:rPr>
              <a:t>37.7 %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Non-conf.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64008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658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A2E"/>
                </a:solidFill>
              </a:rPr>
              <a:t>67.4 %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OEE moyen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Méthodologie CRISP-DM — 6 phases itératives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1325880" cy="1188720"/>
          </a:xfrm>
          <a:prstGeom prst="rect">
            <a:avLst/>
          </a:prstGeom>
          <a:solidFill>
            <a:srgbClr val="2E5F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27432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Compréhension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métier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00200" y="2706624"/>
            <a:ext cx="137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2286000"/>
            <a:ext cx="1325880" cy="118872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37360" y="27432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Données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Exploration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63240" y="2706624"/>
            <a:ext cx="137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286000"/>
            <a:ext cx="132588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200400" y="27432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Préparation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SMOTE + FE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26280" y="2706624"/>
            <a:ext cx="137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286000"/>
            <a:ext cx="132588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663440" y="27432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Modélisation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 algorithmes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2706624"/>
            <a:ext cx="137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286000"/>
            <a:ext cx="1325880" cy="1188720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26480" y="27432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Évaluation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SHAP + KPIs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52360" y="2706624"/>
            <a:ext cx="13716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2286000"/>
            <a:ext cx="1325880" cy="1188720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589520" y="274320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Déploiement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API MES/ERP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65760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657600"/>
            <a:ext cx="73152" cy="128016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4069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Ratio_cadence  •  Score_maintenance  •  Ratio_pertes_dispo  •  Interaction_OEE_Temp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365760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657600"/>
            <a:ext cx="73152" cy="12801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SMOTE — Rééchantillonnage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54880" y="4069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62.3 % conformes vs 37.7 % non-conformes → 1 291 exemples synthétiques générés (k=5 voisins) sur train set uniquement → dataset équilibré 5 236 obs.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|  EXPLORATION DES DONNÉES — EDA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Corrélations de Pearson avec la non-conformité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Qualité OEE (%)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77440" y="1069848"/>
            <a:ext cx="219456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069848"/>
            <a:ext cx="1623974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005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–0.74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Nb rebuts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1755648"/>
            <a:ext cx="219456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755648"/>
            <a:ext cx="1492301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</a:rPr>
              <a:t>+0.68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Délai maintenance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2441448"/>
            <a:ext cx="219456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2441448"/>
            <a:ext cx="1338682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</a:rPr>
              <a:t>+0.61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Nb retouches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3127248"/>
            <a:ext cx="219456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127248"/>
            <a:ext cx="1272845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FA3"/>
                </a:solidFill>
              </a:rPr>
              <a:t>+0.58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7947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6 Grandes Pertes — Contributions aux pertes totales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69951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Composante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Fréq.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14416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453128"/>
            <a:ext cx="699516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453128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" y="445312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Pannes non planifiées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26080" y="445312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Disponibilité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3168" y="445312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38 %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14416" y="4453128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–6.2 pts OEE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576572"/>
            <a:ext cx="6995160" cy="11887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57657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2648" y="457657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Changements de série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26080" y="457657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Disponibilité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73168" y="4576572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24 %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14416" y="457657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–4.1 pts OEE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700016"/>
            <a:ext cx="699516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0001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" y="4700016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Micro-arrêts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926080" y="470001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73168" y="470001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41 %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14416" y="4700016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–5.7 pts OEE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823460"/>
            <a:ext cx="6995160" cy="11887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23460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" y="482346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Réduction de cadence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926080" y="48234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73168" y="482346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29 %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14416" y="4823460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–3.4 pts OEE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946904"/>
            <a:ext cx="699516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94690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48" y="4946904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Rebuts au démarrage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926080" y="4946904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Qualité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73168" y="494690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33 %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14416" y="4946904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–4.8 pts OEE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5070348"/>
            <a:ext cx="6995160" cy="11887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5070348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2648" y="5070348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Retouches / non-conf.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926080" y="507034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Qualité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73168" y="507034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B2A4A"/>
                </a:solidFill>
              </a:rPr>
              <a:t>26 %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14416" y="5070348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–3.1 pts OEE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406640" y="594360"/>
            <a:ext cx="1508760" cy="297180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6858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A2E"/>
                </a:solidFill>
              </a:rPr>
              <a:t>Shift Nuit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406640" y="10515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+8.3 pts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7406640" y="1709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défaut vs matin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589520" y="2212848"/>
            <a:ext cx="1097280" cy="0"/>
          </a:xfrm>
          <a:prstGeom prst="line">
            <a:avLst/>
          </a:prstGeom>
          <a:noFill/>
          <a:ln w="12700">
            <a:solidFill>
              <a:srgbClr val="2E5FA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0664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A2E"/>
                </a:solidFill>
              </a:rPr>
              <a:t>Kénitra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40664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–4.2 pts OEE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vs Tanger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|  MODÈLES MACHINE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1572768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Régression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Logistique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Baseline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93392" y="640080"/>
            <a:ext cx="1572768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68580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Arbre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Décision CART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93392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Interprétable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12464" y="640080"/>
            <a:ext cx="1572768" cy="1005840"/>
          </a:xfrm>
          <a:prstGeom prst="rect">
            <a:avLst/>
          </a:prstGeom>
          <a:solidFill>
            <a:srgbClr val="2E5F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68580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12464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Ensemble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31536" y="640080"/>
            <a:ext cx="1572768" cy="1005840"/>
          </a:xfrm>
          <a:prstGeom prst="rect">
            <a:avLst/>
          </a:prstGeom>
          <a:solidFill>
            <a:srgbClr val="E86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68580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XGBoost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31536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★ Champion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50608" y="640080"/>
            <a:ext cx="1572768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68580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noyau RBF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50608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Non-linéaire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1828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Comparaison des performances — Jeu de test (n = 1 050 observations)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212848"/>
            <a:ext cx="73152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12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Modèle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312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38728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Précision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2128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Rappel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13832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F1-Score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56248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AUC-ROC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560320"/>
            <a:ext cx="7315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Régression Logistique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96312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78.4 %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38728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76.1 %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74.8 %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13832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75.4 %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56248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0.852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944368"/>
            <a:ext cx="731520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Arbre de Décision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96312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82.1 %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38728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80.3 %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2944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79.6 %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13832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79.9 %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56248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0.873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328416"/>
            <a:ext cx="7315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496312" y="3328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91.3 %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538728" y="3328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90.2 %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89.8 %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13832" y="3328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90.0 %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56248" y="33284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0.962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712464"/>
            <a:ext cx="731520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712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XGBoost  ★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496312" y="37124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93.7 %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538728" y="37124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92.5 %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0" y="3712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93.1 %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513832" y="37124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92.8 %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56248" y="37124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0.978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" y="4096512"/>
            <a:ext cx="7315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096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SVM (RBF)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496312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88.6 %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538728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87.4 %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0" y="4096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86.9 %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513832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87.1 %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556248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0.941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635240" y="2212848"/>
            <a:ext cx="128016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22860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Rappel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28529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A2E"/>
                </a:solidFill>
              </a:rPr>
              <a:t>+18.3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86A2E"/>
                </a:solidFill>
              </a:rPr>
              <a:t>pts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763524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vs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baseline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4320" y="4617720"/>
            <a:ext cx="8641080" cy="347472"/>
          </a:xfrm>
          <a:prstGeom prst="rect">
            <a:avLst/>
          </a:prstGeom>
          <a:solidFill>
            <a:srgbClr val="FFF3E8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</a:rPr>
              <a:t>⚙  Seuil de décision ajusté à 0.42 (vs 0.5 par défaut) : faux négatifs réduits à 31 — coût défaut non détecté ≈ 10× coût fausse alarme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RÉSULTATS &amp; INTERPRÉTABILITÉ SHAP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A2E"/>
                </a:solidFill>
              </a:rPr>
              <a:t>0.978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AUC-ROC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64008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6858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A2E"/>
                </a:solidFill>
              </a:rPr>
              <a:t>92.8%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207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F1-Score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6858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A2E"/>
                </a:solidFill>
              </a:rPr>
              <a:t>93.7%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207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Accuracy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64008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6858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A2E"/>
                </a:solidFill>
              </a:rPr>
              <a:t>93.1%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1207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Rappel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1737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Analyse SHAP — Top 5 features prédictives (XGBoost)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2128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OEE_Qualité (%)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2267712"/>
            <a:ext cx="320040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2267712"/>
            <a:ext cx="3200400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22128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0.284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212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Faible qualité OEE → forte probabilité de non-conformité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2743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Délai_maintenance (j)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2798064"/>
            <a:ext cx="320040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2798064"/>
            <a:ext cx="2240280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7432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0.198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Délai long depuis maintenance → dérive qualité amplifiée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32735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Nb_rebuts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3328416"/>
            <a:ext cx="320040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3328416"/>
            <a:ext cx="1888236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273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0.167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2735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Indicateur avancé puissant de dérive qualité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3803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Ratio_cadence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68880" y="3858768"/>
            <a:ext cx="320040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3858768"/>
            <a:ext cx="1600200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38039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0.142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8039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Réduction de cadence prédit la non-conformité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3342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Température_atelier (°C)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68880" y="4389120"/>
            <a:ext cx="3200400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389120"/>
            <a:ext cx="1344168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4334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0.118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4334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T° extrêmes (&gt; 32°C ou &lt; 15°C) dégradent la qualité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RECOMMANDATIONS LEAN MANUFACTURING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82296" cy="19659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🔧  TPM — Maintenance Prédictive 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Intervalles max 21 jours. Scoring XGBoost toutes les 2h via capteurs SCADA. Alerte auto si score &gt; 0.42.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1280160" cy="3657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–15 % taux défaut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984248"/>
            <a:ext cx="182880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984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💰 1 270 000 MAD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6583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658368"/>
            <a:ext cx="82296" cy="1965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7315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⚡  SMED — Réduction Temps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13385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Objectif : 47 min → &lt; 12 min en 12 mois. Corrélation setup/défauts r=+0.47. Gabarits quick-release.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984248"/>
            <a:ext cx="128016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–8 % taux défaut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1984248"/>
            <a:ext cx="182880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984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💰 678 400 MAD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072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07208"/>
            <a:ext cx="82296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📋  5S — Standardisation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2826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Shadow boards, marquage sol conformes/NC, audits hebdo, AIC quotidiens, fiches visuelles aux postes.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12801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33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–6 % taux défaut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4133088"/>
            <a:ext cx="182880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💰 508 800 MAD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072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07208"/>
            <a:ext cx="82296" cy="1965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803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📊  OEE Performance Monitoring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28269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Scoring temps réel via pipeline ML. Alertes dérives de cadence. Tableau de bord MES/ERP intégré.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37760" y="4133088"/>
            <a:ext cx="128016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133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+5 % capacité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4133088"/>
            <a:ext cx="182880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💰 340 000 MAD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029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FEUILLE DE ROUTE PDCA — 18 MOIS  &amp;  IMPACT ROI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713232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713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FA3"/>
                </a:solidFill>
              </a:rPr>
              <a:t>M1–M3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82296" cy="14173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430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Audit 5S, VSM, collecte données terrain, configuration pipeline 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8912" y="2029968"/>
            <a:ext cx="1792224" cy="3931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29968"/>
            <a:ext cx="1792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5FA3"/>
                </a:solidFill>
              </a:rPr>
              <a:t>✓  OEE baseline documenté — 100 % machines IoT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50592" y="640080"/>
            <a:ext cx="713232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640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7832" y="713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M4–M9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0592" y="10972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0592" y="1097280"/>
            <a:ext cx="82296" cy="1417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1430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Chantiers 5S, formation SMED, déploiement maintenance prédictive (2 lignes pilotes)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15184" y="2029968"/>
            <a:ext cx="1792224" cy="3931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2029968"/>
            <a:ext cx="1792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7A4A"/>
                </a:solidFill>
              </a:rPr>
              <a:t>✓  Setup –30 % — 0 NC critique sur lignes pilotes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26864" y="640080"/>
            <a:ext cx="713232" cy="384048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640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04104" y="713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A2E"/>
                </a:solidFill>
              </a:rPr>
              <a:t>M10–M12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26864" y="10972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1097280"/>
            <a:ext cx="82296" cy="1417320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1430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Audit résultats vs objectifs, recalibrage modèle ML, analyse écarts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91456" y="2029968"/>
            <a:ext cx="1792224" cy="3931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029968"/>
            <a:ext cx="1792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6A2E"/>
                </a:solidFill>
              </a:rPr>
              <a:t>✓  Défaut –15 % — OEE +6 pts — F1 &gt; 90 % réel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03136" y="640080"/>
            <a:ext cx="71323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6400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0376" y="713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M13–M18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03136" y="1097280"/>
            <a:ext cx="20299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1097280"/>
            <a:ext cx="82296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11430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Généralisation toutes lignes, intégration API MES/ERP, Kaizen continu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67728" y="2029968"/>
            <a:ext cx="1792224" cy="39319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2029968"/>
            <a:ext cx="1792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2A4A"/>
                </a:solidFill>
              </a:rPr>
              <a:t>✓  Défaut –25 % — ROI &gt; 300 % — 3 sites marocains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Impact économique estimé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017520"/>
            <a:ext cx="7699248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017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Levier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27832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26864" y="3017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Gain/an (MAD)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0216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Horizon ROI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28416"/>
            <a:ext cx="76992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328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Maintenance prédictive ML (TPM)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27832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–15 % défaut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26864" y="3328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</a:rPr>
              <a:t>1 270 000 MAD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00216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12 mois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621024"/>
            <a:ext cx="7699248" cy="27432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621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SMED (réduction setup)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27832" y="3621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–8 % défaut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26864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</a:rPr>
              <a:t>678 400 MAD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00216" y="3621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9 mois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3913632"/>
            <a:ext cx="76992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5S standardisés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27832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–6 % défaut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26864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</a:rPr>
              <a:t>508 800 MAD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00216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6 mois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4206240"/>
            <a:ext cx="7699248" cy="27432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Optimisation OEE Performance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27832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+5 % capacité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26864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</a:rPr>
              <a:t>340 000 MAD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00216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</a:rPr>
              <a:t>15 mois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517136"/>
            <a:ext cx="7699248" cy="384048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5171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ESTIMÉ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227832" y="4517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–25 % taux défaut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626864" y="4517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2 797 200 MAD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00216" y="4517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&lt; 18 mois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09728" cy="49789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</a:rPr>
              <a:t>CONCLUSION &amp; PERSPECTIVES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6692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A2E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Modèle XGBoost validé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AUC-ROC 0.978 — rivalise avec les solutions commerciales de predictive quality analytics. Seuil 0.42 optimisé pour le contexte industriel.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56692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6771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A2E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22677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Bridge Data Science ↔ Lean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SHAP génère des insights directement actionnables : TPM (maintenance prédictive), SMED (dérives cadence), 5S (conditions à risque qualité).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56692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0215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A2E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35021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Impact ROI confirmé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39044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2 797 200 MAD de gain annuel estimé sur une réduction de 25 % du taux de défaut — ROI &gt; 300 % en moins de 18 mois.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960120"/>
            <a:ext cx="2606040" cy="3611880"/>
          </a:xfrm>
          <a:prstGeom prst="rect">
            <a:avLst/>
          </a:prstGeom>
          <a:solidFill>
            <a:srgbClr val="1E3A5F"/>
          </a:solidFill>
          <a:ln w="12700">
            <a:solidFill>
              <a:srgbClr val="E86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A2E"/>
                </a:solidFill>
              </a:rPr>
              <a:t>Perspectives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5087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🚀  Court terme : API REST FastAPI/Flask — intégration MES/ERP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📡  Moyen terme : streaming temps réel à l'échelle du batch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🤖  Long terme : capteurs IoT granulaires → système cyber-physique auto-apprenant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🌍  Vision Maroc 2035 : standard industrie automobile nationale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Ghita HANINE &amp; Hajar SAADOUNI  |  Encadrant : Pr. A. LARHLIMI  |  ENCG Settat — PSCM S8  |  2025-2026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E86A2E"/>
          </a:solidFill>
          <a:ln w="12700">
            <a:solidFill>
              <a:srgbClr val="E86A2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Taux de Défaut Produit</dc:title>
  <dc:subject>PptxGenJS Presentation</dc:subject>
  <dc:creator>PptxGenJS</dc:creator>
  <cp:lastModifiedBy>PptxGenJS</cp:lastModifiedBy>
  <cp:revision>1</cp:revision>
  <dcterms:created xsi:type="dcterms:W3CDTF">2026-03-27T20:29:12Z</dcterms:created>
  <dcterms:modified xsi:type="dcterms:W3CDTF">2026-03-27T20:29:12Z</dcterms:modified>
</cp:coreProperties>
</file>